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80" r:id="rId5"/>
    <p:sldId id="269" r:id="rId6"/>
    <p:sldId id="271" r:id="rId7"/>
    <p:sldId id="260" r:id="rId8"/>
    <p:sldId id="279" r:id="rId9"/>
    <p:sldId id="278" r:id="rId10"/>
    <p:sldId id="268" r:id="rId11"/>
    <p:sldId id="276" r:id="rId12"/>
    <p:sldId id="274" r:id="rId13"/>
    <p:sldId id="263" r:id="rId14"/>
    <p:sldId id="273" r:id="rId15"/>
    <p:sldId id="282" r:id="rId16"/>
    <p:sldId id="281" r:id="rId17"/>
    <p:sldId id="264" r:id="rId18"/>
    <p:sldId id="266" r:id="rId19"/>
    <p:sldId id="26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XE/G9Zr6Hcxi74mb5H7v3OMcG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A5EAE-7FEC-4D38-8F6E-B2B8B1DBAF3E}">
  <a:tblStyle styleId="{372A5EAE-7FEC-4D38-8F6E-B2B8B1DBAF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C52CF63-EACC-65E5-27B0-00EE69BB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787DF4FF-DC95-BF40-3395-255633444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17028079-3F88-B61D-397A-21E4A9D7E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8714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7443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0583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C984F59-0263-E9DB-25BC-69EC0974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549CD4E6-AF54-4CA0-D139-D7E35697F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FAE7424C-441F-25C0-5F01-A552FB2C0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7315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0208671-0303-EFA5-9036-93B085A1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AB84CF2C-057B-009E-CF2F-75B1EA516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49BB5F0A-FBD4-47CD-981B-A3C1BA0B4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097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7619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BEB0E6BA-A4D8-E365-8275-C8A345F1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>
            <a:extLst>
              <a:ext uri="{FF2B5EF4-FFF2-40B4-BE49-F238E27FC236}">
                <a16:creationId xmlns:a16="http://schemas.microsoft.com/office/drawing/2014/main" id="{A49CF67F-0D3F-DBEE-3135-EE57E6A72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52326C62-4C43-1C2B-CD39-A372C2C81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8387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937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4771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BC2E0FB9-BF7B-78F0-E2F9-7A4BD642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>
            <a:extLst>
              <a:ext uri="{FF2B5EF4-FFF2-40B4-BE49-F238E27FC236}">
                <a16:creationId xmlns:a16="http://schemas.microsoft.com/office/drawing/2014/main" id="{2037BBB2-FEE3-199A-77BB-8586D78B2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460EBB12-799A-6F53-07BE-D75D5F1D7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1173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C85E0085-1DB9-01E6-D6E4-B58D5D09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>
            <a:extLst>
              <a:ext uri="{FF2B5EF4-FFF2-40B4-BE49-F238E27FC236}">
                <a16:creationId xmlns:a16="http://schemas.microsoft.com/office/drawing/2014/main" id="{F6A2072D-1E7D-0AC3-BEA1-68BCDAFCF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ABA16487-B226-AB15-567D-0B8F12509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2509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28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86" name="Google Shape;86;p1"/>
            <p:cNvSpPr/>
            <p:nvPr/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5686"/>
                  </a:srgbClr>
                </a:gs>
                <a:gs pos="100000">
                  <a:srgbClr val="2F5496"/>
                </a:gs>
              </a:gsLst>
              <a:lin ang="8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 rot="-54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0">
                  <a:srgbClr val="4472C4">
                    <a:alpha val="0"/>
                  </a:srgbClr>
                </a:gs>
                <a:gs pos="45000">
                  <a:srgbClr val="4472C4">
                    <a:alpha val="0"/>
                  </a:srgbClr>
                </a:gs>
                <a:gs pos="99000">
                  <a:srgbClr val="000000">
                    <a:alpha val="73725"/>
                  </a:srgbClr>
                </a:gs>
                <a:gs pos="100000">
                  <a:srgbClr val="000000">
                    <a:alpha val="73725"/>
                  </a:srgbClr>
                </a:gs>
              </a:gsLst>
              <a:lin ang="11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rgbClr val="4472C4">
                    <a:alpha val="16862"/>
                  </a:srgbClr>
                </a:gs>
                <a:gs pos="74000">
                  <a:srgbClr val="1F3864">
                    <a:alpha val="0"/>
                  </a:srgbClr>
                </a:gs>
                <a:gs pos="100000">
                  <a:srgbClr val="1F3864">
                    <a:alpha val="0"/>
                  </a:srgbClr>
                </a:gs>
              </a:gsLst>
              <a:lin ang="14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371598" y="319314"/>
            <a:ext cx="9477377" cy="103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fr-FR" sz="4000" dirty="0">
                <a:solidFill>
                  <a:srgbClr val="FFFFFF"/>
                </a:solidFill>
              </a:rPr>
              <a:t>Mise à jour l'application Digit Learning</a:t>
            </a:r>
            <a:endParaRPr sz="4000" dirty="0">
              <a:solidFill>
                <a:srgbClr val="FFFFFF"/>
              </a:solidFill>
            </a:endParaRPr>
          </a:p>
        </p:txBody>
      </p:sp>
      <p:pic>
        <p:nvPicPr>
          <p:cNvPr id="90" name="Google Shape;90;p1" descr="Une image contenant Graphique, Police, logo, cercle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880" y="1974011"/>
            <a:ext cx="3739092" cy="261736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71598" y="5070346"/>
            <a:ext cx="9496427" cy="13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Aïcha Imène DAHOUMANE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 DIGITALES</a:t>
            </a:r>
            <a:endParaRPr/>
          </a:p>
        </p:txBody>
      </p:sp>
      <p:pic>
        <p:nvPicPr>
          <p:cNvPr id="5" name="Image 4" descr="Une image contenant capture d’écran, Monde, Bleu électrique&#10;&#10;Description générée automatiquement">
            <a:extLst>
              <a:ext uri="{FF2B5EF4-FFF2-40B4-BE49-F238E27FC236}">
                <a16:creationId xmlns:a16="http://schemas.microsoft.com/office/drawing/2014/main" id="{FE814875-0B9F-E356-721B-E8C9B686E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419" y="2596056"/>
            <a:ext cx="6412860" cy="3607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537842" y="10506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Sommaire</a:t>
            </a:r>
            <a:endParaRPr sz="4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 Présentation de Tours for life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  Présentation des objectifs du projet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Besoins des utilisateurs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  Les tâches actuelles des commerciaux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  Les tâches souhaitées des commerciaux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Solution Salesforce proposée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  Les objets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  Les champs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  Les rapports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  Les automatisations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Conclusion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 Les avantages pour les commerciaux</a:t>
            </a:r>
          </a:p>
          <a:p>
            <a:pPr marL="57150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 Les avantages pour les directeurs commerciaux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699608" y="51641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D79175C-BF98-4D50-A208-7B47C7DAB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43788" y="1314381"/>
            <a:ext cx="4314001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Tours for life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Entreprise française de voyages en bus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Chiffre d'affaires : 300 000 € en 2019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Objectif : 500 000 € en 2020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Décision d'implémenter Salesforce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budget de 29 000 euros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A2906391-3AC5-9BB7-C455-A50A6C59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A3C718E9-D7EF-E9A1-CD44-897AF57F20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7A63D57D-54CA-4EB4-2E0D-7538EB618521}"/>
              </a:ext>
            </a:extLst>
          </p:cNvPr>
          <p:cNvSpPr/>
          <p:nvPr/>
        </p:nvSpPr>
        <p:spPr>
          <a:xfrm>
            <a:off x="-9" y="18288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1451E477-0272-8F1F-36EE-A7274C38A8F0}"/>
              </a:ext>
            </a:extLst>
          </p:cNvPr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4F20B5C9-E638-3D94-A854-C8196C6536DA}"/>
              </a:ext>
            </a:extLst>
          </p:cNvPr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A0C32F7B-CC5D-75F1-45E6-879E5342BA07}"/>
              </a:ext>
            </a:extLst>
          </p:cNvPr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1664FC82-B1D4-6BBD-1C03-FD345C1CFEEF}"/>
              </a:ext>
            </a:extLst>
          </p:cNvPr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6296AFCE-4D50-DDFD-6E17-B73517E11369}"/>
              </a:ext>
            </a:extLst>
          </p:cNvPr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48CDBF35-0AA0-3C15-D4B1-975698BEE3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1641"/>
            <a:ext cx="3900974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Besoins des utilisateurs clés </a:t>
            </a:r>
            <a:br>
              <a:rPr lang="fr-FR" sz="4000" dirty="0">
                <a:solidFill>
                  <a:srgbClr val="FFFFFF"/>
                </a:solidFill>
              </a:rPr>
            </a:br>
            <a:endParaRPr sz="40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3F0B40A-5567-6248-EB08-E3B704E3A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12664" y="1235667"/>
            <a:ext cx="44479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Créer et </a:t>
            </a: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érer les prospects et les voyageurs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Gérer les voyages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Créer des rapports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Créer des tableaux de bord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22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</a:rPr>
              <a:t>Modèle de données</a:t>
            </a:r>
            <a:r>
              <a:rPr lang="fr-FR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l’application Tour for life</a:t>
            </a:r>
            <a:br>
              <a:rPr lang="fr-FR" sz="4000">
                <a:solidFill>
                  <a:srgbClr val="FFFFFF"/>
                </a:solidFill>
              </a:rPr>
            </a:br>
            <a:endParaRPr sz="4000">
              <a:solidFill>
                <a:srgbClr val="FFFFFF"/>
              </a:solidFill>
            </a:endParaRPr>
          </a:p>
        </p:txBody>
      </p:sp>
      <p:pic>
        <p:nvPicPr>
          <p:cNvPr id="3" name="Image 2" descr="Une image contenant texte, diagramme, Parallèle, capture d’écran&#10;&#10;Description générée automatiquement">
            <a:extLst>
              <a:ext uri="{FF2B5EF4-FFF2-40B4-BE49-F238E27FC236}">
                <a16:creationId xmlns:a16="http://schemas.microsoft.com/office/drawing/2014/main" id="{7067A9AC-D1FF-1141-440D-FE5B58AD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25" y="1654217"/>
            <a:ext cx="8892009" cy="48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4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11974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 rot="-5400000" flipH="1">
            <a:off x="4998674" y="-5011324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Paramètre Person Voyageurs</a:t>
            </a:r>
            <a:br>
              <a:rPr lang="fr-FR" sz="4000" dirty="0">
                <a:solidFill>
                  <a:srgbClr val="FFFFFF"/>
                </a:solidFill>
              </a:rPr>
            </a:br>
            <a:endParaRPr sz="4000" dirty="0">
              <a:solidFill>
                <a:srgbClr val="FFFFFF"/>
              </a:solidFill>
            </a:endParaRPr>
          </a:p>
        </p:txBody>
      </p:sp>
      <p:pic>
        <p:nvPicPr>
          <p:cNvPr id="6" name="Image 5" descr="Une image contenant texte, Appareils électroniques, capture d’écran, Police&#10;&#10;Description générée automatiquement">
            <a:extLst>
              <a:ext uri="{FF2B5EF4-FFF2-40B4-BE49-F238E27FC236}">
                <a16:creationId xmlns:a16="http://schemas.microsoft.com/office/drawing/2014/main" id="{16EDF0AA-6E9C-8A30-24D2-DDAEA47A8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328" y="2170031"/>
            <a:ext cx="5042159" cy="37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8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152397" y="491112"/>
            <a:ext cx="3057145" cy="25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fr-FR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 Directeur</a:t>
            </a:r>
            <a:endParaRPr sz="4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4C95CFC-82AA-A263-9406-F0A4BDCAF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489" y="1903274"/>
            <a:ext cx="3860998" cy="2286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029C0BF-7D84-1FC8-932C-035307D7D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55" y="1155464"/>
            <a:ext cx="3549832" cy="311166"/>
          </a:xfrm>
          <a:prstGeom prst="rect">
            <a:avLst/>
          </a:prstGeom>
        </p:spPr>
      </p:pic>
      <p:pic>
        <p:nvPicPr>
          <p:cNvPr id="10" name="Image 9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A8EE6AE8-F4D4-5ED1-5CF8-665D9E9DC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044" y="830981"/>
            <a:ext cx="4197566" cy="469924"/>
          </a:xfrm>
          <a:prstGeom prst="rect">
            <a:avLst/>
          </a:prstGeom>
        </p:spPr>
      </p:pic>
      <p:pic>
        <p:nvPicPr>
          <p:cNvPr id="12" name="Image 11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A2AF792D-563C-A942-F4FA-4DEE7FBE0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76" y="3152305"/>
            <a:ext cx="4102311" cy="185429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5421AD8-2DAF-F5FC-B60F-B90082921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429" y="1483351"/>
            <a:ext cx="3784795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>
          <a:extLst>
            <a:ext uri="{FF2B5EF4-FFF2-40B4-BE49-F238E27FC236}">
              <a16:creationId xmlns:a16="http://schemas.microsoft.com/office/drawing/2014/main" id="{1CBFE9DD-3DA1-027E-73AA-E4AEA8D5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>
            <a:extLst>
              <a:ext uri="{FF2B5EF4-FFF2-40B4-BE49-F238E27FC236}">
                <a16:creationId xmlns:a16="http://schemas.microsoft.com/office/drawing/2014/main" id="{992FE316-6339-504D-537A-4DECE3CBC90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>
            <a:extLst>
              <a:ext uri="{FF2B5EF4-FFF2-40B4-BE49-F238E27FC236}">
                <a16:creationId xmlns:a16="http://schemas.microsoft.com/office/drawing/2014/main" id="{B0E593DB-996C-80B6-DF7F-8C2715C647DE}"/>
              </a:ext>
            </a:extLst>
          </p:cNvPr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3F6FC466-117D-0EFF-B942-77DA7505510A}"/>
              </a:ext>
            </a:extLst>
          </p:cNvPr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>
            <a:extLst>
              <a:ext uri="{FF2B5EF4-FFF2-40B4-BE49-F238E27FC236}">
                <a16:creationId xmlns:a16="http://schemas.microsoft.com/office/drawing/2014/main" id="{E0885912-B931-DE35-3F57-7107E4F0180D}"/>
              </a:ext>
            </a:extLst>
          </p:cNvPr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284FAB81-FBB4-EDEE-1A5C-F92D8F7DCC7B}"/>
              </a:ext>
            </a:extLst>
          </p:cNvPr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>
            <a:extLst>
              <a:ext uri="{FF2B5EF4-FFF2-40B4-BE49-F238E27FC236}">
                <a16:creationId xmlns:a16="http://schemas.microsoft.com/office/drawing/2014/main" id="{0C6D08BF-2068-F2FE-746F-55C3D41790F8}"/>
              </a:ext>
            </a:extLst>
          </p:cNvPr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78CA978C-088C-E22B-94CC-D2A1B81A8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397" y="491112"/>
            <a:ext cx="3057145" cy="25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kumimoji="0" lang="fr-FR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Profil Commercial</a:t>
            </a:r>
            <a:endParaRPr sz="4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009AA54-90B7-F592-4524-8C72D8CF3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489" y="1903274"/>
            <a:ext cx="3860998" cy="228612"/>
          </a:xfrm>
          <a:prstGeom prst="rect">
            <a:avLst/>
          </a:prstGeom>
        </p:spPr>
      </p:pic>
      <p:pic>
        <p:nvPicPr>
          <p:cNvPr id="5" name="Image 4" descr="Une image contenant texte, ligne, nombre, Police&#10;&#10;Description générée automatiquement">
            <a:extLst>
              <a:ext uri="{FF2B5EF4-FFF2-40B4-BE49-F238E27FC236}">
                <a16:creationId xmlns:a16="http://schemas.microsoft.com/office/drawing/2014/main" id="{BC50246C-7A02-59CB-9FC8-CA1C5C8DE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006" y="1477882"/>
            <a:ext cx="3727642" cy="40007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9F55CC2-B49D-858C-EF8B-FD9BE3AF8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655" y="1155464"/>
            <a:ext cx="3549832" cy="311166"/>
          </a:xfrm>
          <a:prstGeom prst="rect">
            <a:avLst/>
          </a:prstGeom>
        </p:spPr>
      </p:pic>
      <p:pic>
        <p:nvPicPr>
          <p:cNvPr id="10" name="Image 9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89AD9386-2378-C08D-F469-F0A12972B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3044" y="830981"/>
            <a:ext cx="4197566" cy="469924"/>
          </a:xfrm>
          <a:prstGeom prst="rect">
            <a:avLst/>
          </a:prstGeom>
        </p:spPr>
      </p:pic>
      <p:pic>
        <p:nvPicPr>
          <p:cNvPr id="12" name="Image 11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0D5A9092-48C0-670A-7C5E-999E7C22E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4655" y="3752710"/>
            <a:ext cx="4102311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25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>
          <a:extLst>
            <a:ext uri="{FF2B5EF4-FFF2-40B4-BE49-F238E27FC236}">
              <a16:creationId xmlns:a16="http://schemas.microsoft.com/office/drawing/2014/main" id="{8D56782B-4C36-8D1B-B957-1242216B9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>
            <a:extLst>
              <a:ext uri="{FF2B5EF4-FFF2-40B4-BE49-F238E27FC236}">
                <a16:creationId xmlns:a16="http://schemas.microsoft.com/office/drawing/2014/main" id="{2925430F-1E71-84BC-2167-7C7EBF7D167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>
            <a:extLst>
              <a:ext uri="{FF2B5EF4-FFF2-40B4-BE49-F238E27FC236}">
                <a16:creationId xmlns:a16="http://schemas.microsoft.com/office/drawing/2014/main" id="{FCF8F6CF-F413-4F4A-9D0D-7EE830E51338}"/>
              </a:ext>
            </a:extLst>
          </p:cNvPr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F865B4BA-3B3B-5E49-A86E-C87B60B7BFD1}"/>
              </a:ext>
            </a:extLst>
          </p:cNvPr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>
            <a:extLst>
              <a:ext uri="{FF2B5EF4-FFF2-40B4-BE49-F238E27FC236}">
                <a16:creationId xmlns:a16="http://schemas.microsoft.com/office/drawing/2014/main" id="{E86AE5AB-9BC9-CCAC-AE57-23ABA44F85A6}"/>
              </a:ext>
            </a:extLst>
          </p:cNvPr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33BD6775-08AC-CC46-7D7F-D46BA7F7408B}"/>
              </a:ext>
            </a:extLst>
          </p:cNvPr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>
            <a:extLst>
              <a:ext uri="{FF2B5EF4-FFF2-40B4-BE49-F238E27FC236}">
                <a16:creationId xmlns:a16="http://schemas.microsoft.com/office/drawing/2014/main" id="{39C5D524-23AD-082C-CFA5-83990F31E2BA}"/>
              </a:ext>
            </a:extLst>
          </p:cNvPr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EFE1F271-9971-53DE-896E-E53E95F99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397" y="491112"/>
            <a:ext cx="3057145" cy="25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fr-FR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Rôle </a:t>
            </a:r>
            <a:endParaRPr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 6" descr="Une image contenant texte, reçu, Police, capture d’écran&#10;&#10;Description générée automatiquement">
            <a:extLst>
              <a:ext uri="{FF2B5EF4-FFF2-40B4-BE49-F238E27FC236}">
                <a16:creationId xmlns:a16="http://schemas.microsoft.com/office/drawing/2014/main" id="{7AE4A212-DFB3-6A9A-308F-856F0CF15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814" y="1153645"/>
            <a:ext cx="7269435" cy="281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2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19442B-8BCA-5D33-0892-CE9D8D581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32" y="2703357"/>
            <a:ext cx="7899339" cy="426991"/>
          </a:xfrm>
          <a:prstGeom prst="rect">
            <a:avLst/>
          </a:prstGeom>
        </p:spPr>
      </p:pic>
      <p:pic>
        <p:nvPicPr>
          <p:cNvPr id="8" name="Image 7" descr="Une image contenant texte, capture d’écran, ligne, reçu&#10;&#10;Description générée automatiquement">
            <a:extLst>
              <a:ext uri="{FF2B5EF4-FFF2-40B4-BE49-F238E27FC236}">
                <a16:creationId xmlns:a16="http://schemas.microsoft.com/office/drawing/2014/main" id="{D95CBF44-89D2-3215-E554-C33E8AA3C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011" y="786981"/>
            <a:ext cx="8000996" cy="1916376"/>
          </a:xfrm>
          <a:prstGeom prst="rect">
            <a:avLst/>
          </a:prstGeom>
        </p:spPr>
      </p:pic>
      <p:sp>
        <p:nvSpPr>
          <p:cNvPr id="171" name="Google Shape;171;p7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49803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>
            <a:off x="152400" y="845422"/>
            <a:ext cx="3191271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fr-FR" sz="32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Organization</a:t>
            </a:r>
            <a:r>
              <a:rPr lang="fr-FR" sz="3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-Wide Defaults</a:t>
            </a:r>
          </a:p>
        </p:txBody>
      </p:sp>
    </p:spTree>
    <p:extLst>
      <p:ext uri="{BB962C8B-B14F-4D97-AF65-F5344CB8AC3E}">
        <p14:creationId xmlns:p14="http://schemas.microsoft.com/office/powerpoint/2010/main" val="1401121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>
          <a:extLst>
            <a:ext uri="{FF2B5EF4-FFF2-40B4-BE49-F238E27FC236}">
              <a16:creationId xmlns:a16="http://schemas.microsoft.com/office/drawing/2014/main" id="{774DA197-FB27-C80C-8380-A07DC9A1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>
            <a:extLst>
              <a:ext uri="{FF2B5EF4-FFF2-40B4-BE49-F238E27FC236}">
                <a16:creationId xmlns:a16="http://schemas.microsoft.com/office/drawing/2014/main" id="{9B01D8A5-BA17-54F6-3A09-D6532E54B8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>
            <a:extLst>
              <a:ext uri="{FF2B5EF4-FFF2-40B4-BE49-F238E27FC236}">
                <a16:creationId xmlns:a16="http://schemas.microsoft.com/office/drawing/2014/main" id="{746C9E50-E07A-91A1-D57F-501271043024}"/>
              </a:ext>
            </a:extLst>
          </p:cNvPr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>
            <a:extLst>
              <a:ext uri="{FF2B5EF4-FFF2-40B4-BE49-F238E27FC236}">
                <a16:creationId xmlns:a16="http://schemas.microsoft.com/office/drawing/2014/main" id="{1C01C0BA-C680-04B6-3A34-EBB38F6EF813}"/>
              </a:ext>
            </a:extLst>
          </p:cNvPr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49803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ED3D9E65-79B1-FC5E-C3C2-E3D481DCDC9A}"/>
              </a:ext>
            </a:extLst>
          </p:cNvPr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EB17F148-CACE-9DB9-AD64-D506876E0F31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>
            <a:extLst>
              <a:ext uri="{FF2B5EF4-FFF2-40B4-BE49-F238E27FC236}">
                <a16:creationId xmlns:a16="http://schemas.microsoft.com/office/drawing/2014/main" id="{5BAB0029-2479-223D-B291-1625032AA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845422"/>
            <a:ext cx="3191271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fr-FR" sz="3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Sharing setting/Visibilité</a:t>
            </a:r>
            <a:endParaRPr sz="3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 7" descr="Une image contenant texte, Police, nombre, ligne&#10;&#10;Description générée automatiquement">
            <a:extLst>
              <a:ext uri="{FF2B5EF4-FFF2-40B4-BE49-F238E27FC236}">
                <a16:creationId xmlns:a16="http://schemas.microsoft.com/office/drawing/2014/main" id="{721B08A8-0524-2167-33BD-8CE7D2CA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222" y="1039762"/>
            <a:ext cx="8100778" cy="1328245"/>
          </a:xfrm>
          <a:prstGeom prst="rect">
            <a:avLst/>
          </a:prstGeom>
        </p:spPr>
      </p:pic>
      <p:pic>
        <p:nvPicPr>
          <p:cNvPr id="4" name="Image 3" descr="Une image contenant texte, Police, nombre, ligne&#10;&#10;Description générée automatiquement">
            <a:extLst>
              <a:ext uri="{FF2B5EF4-FFF2-40B4-BE49-F238E27FC236}">
                <a16:creationId xmlns:a16="http://schemas.microsoft.com/office/drawing/2014/main" id="{ADC2CCA6-7689-1E40-C0A9-EADD13032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222" y="286211"/>
            <a:ext cx="8048160" cy="145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4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49803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>
            <a:off x="462843" y="845422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fr-FR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D’envoi d’email suite au </a:t>
            </a:r>
            <a:r>
              <a:rPr lang="fr-FR" sz="4000" dirty="0">
                <a:solidFill>
                  <a:srgbClr val="FFFFFF"/>
                </a:solidFill>
              </a:rPr>
              <a:t>changement de </a:t>
            </a:r>
            <a:r>
              <a:rPr lang="fr-FR" sz="4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statut du prospect</a:t>
            </a:r>
            <a:endParaRPr sz="4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9CAABF90-602D-721A-C6FE-438C1B735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043" y="188861"/>
            <a:ext cx="6578589" cy="64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20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49803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>
            <a:spLocks noGrp="1"/>
          </p:cNvSpPr>
          <p:nvPr>
            <p:ph type="title"/>
          </p:nvPr>
        </p:nvSpPr>
        <p:spPr>
          <a:xfrm>
            <a:off x="474802" y="1607868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fr-FR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Mise à jour de nombre de place disponible par Voyage</a:t>
            </a:r>
            <a:endParaRPr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 5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989BA88-3FAA-EAEE-C4BB-6AC71957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7" y="461091"/>
            <a:ext cx="6000835" cy="61272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Rapports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CC3A95-7D8C-1CC6-8217-69B94ADB2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0331134-9C16-C6A7-41A7-448E02ADC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85" y="1655531"/>
            <a:ext cx="4565885" cy="45214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A0CF9E6-975A-4C29-1525-975A7CA6C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928" y="2027008"/>
            <a:ext cx="2571049" cy="32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56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3080719D-C0D7-3E9C-4FE9-337C2667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>
            <a:extLst>
              <a:ext uri="{FF2B5EF4-FFF2-40B4-BE49-F238E27FC236}">
                <a16:creationId xmlns:a16="http://schemas.microsoft.com/office/drawing/2014/main" id="{69A3555F-F769-0B59-C3FC-2198141075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>
            <a:extLst>
              <a:ext uri="{FF2B5EF4-FFF2-40B4-BE49-F238E27FC236}">
                <a16:creationId xmlns:a16="http://schemas.microsoft.com/office/drawing/2014/main" id="{A9841660-C8D0-275A-C355-E2F8FAA09747}"/>
              </a:ext>
            </a:extLst>
          </p:cNvPr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>
            <a:extLst>
              <a:ext uri="{FF2B5EF4-FFF2-40B4-BE49-F238E27FC236}">
                <a16:creationId xmlns:a16="http://schemas.microsoft.com/office/drawing/2014/main" id="{F758450C-238A-5BA9-FCC4-24382250B957}"/>
              </a:ext>
            </a:extLst>
          </p:cNvPr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>
            <a:extLst>
              <a:ext uri="{FF2B5EF4-FFF2-40B4-BE49-F238E27FC236}">
                <a16:creationId xmlns:a16="http://schemas.microsoft.com/office/drawing/2014/main" id="{D9A8C12D-16E2-391B-FEEA-D63DBCF66780}"/>
              </a:ext>
            </a:extLst>
          </p:cNvPr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>
            <a:extLst>
              <a:ext uri="{FF2B5EF4-FFF2-40B4-BE49-F238E27FC236}">
                <a16:creationId xmlns:a16="http://schemas.microsoft.com/office/drawing/2014/main" id="{B67C175F-99FB-0391-C239-DC7E158B70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Rapports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A5C4A-BD0A-5017-D6B1-FC56BAF0F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A4D798-09F2-2EA8-D693-5EDFB58E3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17545"/>
            <a:ext cx="6672710" cy="386803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AEF119-59D1-0221-D93D-7226EC228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224" y="2068053"/>
            <a:ext cx="2639451" cy="31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65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>
          <a:extLst>
            <a:ext uri="{FF2B5EF4-FFF2-40B4-BE49-F238E27FC236}">
              <a16:creationId xmlns:a16="http://schemas.microsoft.com/office/drawing/2014/main" id="{F03217D0-3B74-D1AA-345A-F403BE67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>
            <a:extLst>
              <a:ext uri="{FF2B5EF4-FFF2-40B4-BE49-F238E27FC236}">
                <a16:creationId xmlns:a16="http://schemas.microsoft.com/office/drawing/2014/main" id="{F6E61B56-818A-E5B2-E33B-1B7953E668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>
            <a:extLst>
              <a:ext uri="{FF2B5EF4-FFF2-40B4-BE49-F238E27FC236}">
                <a16:creationId xmlns:a16="http://schemas.microsoft.com/office/drawing/2014/main" id="{94299E55-71BF-8D94-5F30-7214105D58CE}"/>
              </a:ext>
            </a:extLst>
          </p:cNvPr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>
            <a:extLst>
              <a:ext uri="{FF2B5EF4-FFF2-40B4-BE49-F238E27FC236}">
                <a16:creationId xmlns:a16="http://schemas.microsoft.com/office/drawing/2014/main" id="{7EE91355-2845-5AC5-9464-DF5AA5849152}"/>
              </a:ext>
            </a:extLst>
          </p:cNvPr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>
            <a:extLst>
              <a:ext uri="{FF2B5EF4-FFF2-40B4-BE49-F238E27FC236}">
                <a16:creationId xmlns:a16="http://schemas.microsoft.com/office/drawing/2014/main" id="{1D791479-F0EC-F03F-06DE-D0A69FD22035}"/>
              </a:ext>
            </a:extLst>
          </p:cNvPr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>
            <a:extLst>
              <a:ext uri="{FF2B5EF4-FFF2-40B4-BE49-F238E27FC236}">
                <a16:creationId xmlns:a16="http://schemas.microsoft.com/office/drawing/2014/main" id="{93702F11-C879-ED87-A440-F9B61BB06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Rapports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44F6C6-F58C-6CE8-9A1F-C7FA9BFC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85F027-6C2A-C96C-08D4-B8EEB145B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45" y="1925311"/>
            <a:ext cx="6335174" cy="37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95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F5496">
                  <a:alpha val="15686"/>
                </a:srgbClr>
              </a:gs>
              <a:gs pos="23000">
                <a:srgbClr val="2F5496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de la direction commercial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CC3A95-7D8C-1CC6-8217-69B94ADB2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B83F68-A1A2-B2AE-7C7B-62CCEE870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25624"/>
            <a:ext cx="10623488" cy="46962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418225" y="90077"/>
            <a:ext cx="3201366" cy="284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conclusion</a:t>
            </a:r>
            <a:endParaRPr sz="4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1"/>
          <p:cNvSpPr txBox="1"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rtl="0">
              <a:buNone/>
            </a:pPr>
            <a:r>
              <a:rPr lang="fr-FR" sz="1400" b="1" u="sng" dirty="0">
                <a:effectLst/>
              </a:rPr>
              <a:t>Avantages pour les commerciaux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sz="1400" b="1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fr-FR" sz="1400" b="1" dirty="0">
                <a:effectLst/>
              </a:rPr>
              <a:t>    Une meilleure visibilité sur les prospects et les voyageurs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fr-FR" sz="1400" b="1" dirty="0">
                <a:effectLst/>
              </a:rPr>
              <a:t>    Une simplification des tâches administratives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fr-FR" sz="1400" b="1" dirty="0">
                <a:effectLst/>
              </a:rPr>
              <a:t>    Une meilleure productivité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sz="1400" b="1" dirty="0">
              <a:effectLst/>
            </a:endParaRPr>
          </a:p>
          <a:p>
            <a:pPr marL="114300" indent="0" rtl="0">
              <a:buNone/>
            </a:pPr>
            <a:r>
              <a:rPr lang="fr-FR" sz="1400" b="1" u="sng" dirty="0">
                <a:effectLst/>
              </a:rPr>
              <a:t>Avantages pour les directeurs commerciaux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sz="1400" b="1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fr-FR" sz="1400" b="1" dirty="0">
                <a:effectLst/>
              </a:rPr>
              <a:t>    Une meilleure visibilité sur l'activité commerciale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fr-FR" sz="1400" b="1" dirty="0">
                <a:effectLst/>
              </a:rPr>
              <a:t>    Une meilleure prise de décision</a:t>
            </a:r>
          </a:p>
          <a:p>
            <a:pPr marL="114300" indent="0" rtl="0">
              <a:buNone/>
            </a:pPr>
            <a:endParaRPr lang="fr-FR" sz="1400" b="1" dirty="0">
              <a:effectLst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>
            <a:spLocks noGrp="1"/>
          </p:cNvSpPr>
          <p:nvPr>
            <p:ph type="title"/>
          </p:nvPr>
        </p:nvSpPr>
        <p:spPr>
          <a:xfrm>
            <a:off x="418225" y="90077"/>
            <a:ext cx="3201366" cy="284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fr-FR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- Réponses</a:t>
            </a:r>
            <a:endParaRPr sz="4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2"/>
          <p:cNvSpPr txBox="1"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158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6321</TotalTime>
  <Words>242</Words>
  <Application>Microsoft Office PowerPoint</Application>
  <PresentationFormat>Grand écran</PresentationFormat>
  <Paragraphs>63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Thème Office</vt:lpstr>
      <vt:lpstr>Mise à jour l'application Digit Learning</vt:lpstr>
      <vt:lpstr>Sommaire</vt:lpstr>
      <vt:lpstr>Introduction</vt:lpstr>
      <vt:lpstr>Besoins des utilisateurs clés  </vt:lpstr>
      <vt:lpstr>Modèle de données de l’application Tour for life </vt:lpstr>
      <vt:lpstr>Paramètre Person Voyageurs </vt:lpstr>
      <vt:lpstr>Profil Directeur</vt:lpstr>
      <vt:lpstr>Profil Commercial</vt:lpstr>
      <vt:lpstr>Rôle </vt:lpstr>
      <vt:lpstr>Organization-Wide Defaults</vt:lpstr>
      <vt:lpstr>Sharing setting/Visibilité</vt:lpstr>
      <vt:lpstr>Flow D’envoi d’email suite au changement de statut du prospect</vt:lpstr>
      <vt:lpstr>Flow Mise à jour de nombre de place disponible par Voyage</vt:lpstr>
      <vt:lpstr>Rapports</vt:lpstr>
      <vt:lpstr>Rapports</vt:lpstr>
      <vt:lpstr>Rapports</vt:lpstr>
      <vt:lpstr>Dashboard de la direction commercial</vt:lpstr>
      <vt:lpstr>En conclusion</vt:lpstr>
      <vt:lpstr>Questions - Réponses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à jour l'application Digit Learning</dc:title>
  <dc:creator>Aïcha Dahoumane</dc:creator>
  <cp:lastModifiedBy>Aïcha Dahoumane</cp:lastModifiedBy>
  <cp:revision>8</cp:revision>
  <dcterms:created xsi:type="dcterms:W3CDTF">2021-10-29T08:06:01Z</dcterms:created>
  <dcterms:modified xsi:type="dcterms:W3CDTF">2024-02-10T10:04:43Z</dcterms:modified>
</cp:coreProperties>
</file>